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7" d="100"/>
          <a:sy n="47" d="100"/>
        </p:scale>
        <p:origin x="53" y="1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78995" y="3521161"/>
            <a:ext cx="6193305" cy="861497"/>
          </a:xfrm>
        </p:spPr>
        <p:txBody>
          <a:bodyPr vert="horz" lIns="91440" tIns="45720" rIns="91440" bIns="45720" rtlCol="0" anchor="t">
            <a:normAutofit fontScale="85000" lnSpcReduction="10000"/>
          </a:bodyPr>
          <a:lstStyle/>
          <a:p>
            <a:r>
              <a:rPr lang="en-US" b="0" dirty="0">
                <a:solidFill>
                  <a:schemeClr val="tx1"/>
                </a:solidFill>
              </a:rPr>
              <a:t>Student Name-Astha </a:t>
            </a:r>
            <a:r>
              <a:rPr lang="en-US" b="0" dirty="0" err="1">
                <a:solidFill>
                  <a:schemeClr val="tx1"/>
                </a:solidFill>
              </a:rPr>
              <a:t>Marchattiwar</a:t>
            </a:r>
            <a:r>
              <a:rPr lang="en-US" b="0" dirty="0">
                <a:solidFill>
                  <a:schemeClr val="tx1"/>
                </a:solidFill>
              </a:rPr>
              <a:t> </a:t>
            </a:r>
          </a:p>
          <a:p>
            <a:r>
              <a:rPr lang="en-US" b="0" dirty="0">
                <a:solidFill>
                  <a:schemeClr val="tx1"/>
                </a:solidFill>
              </a:rPr>
              <a:t>College Name- Indus Institute of Technology and Engineering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310765" cy="743448"/>
          </a:xfrm>
        </p:spPr>
        <p:txBody>
          <a:bodyPr>
            <a:normAutofit fontScale="90000"/>
          </a:bodyPr>
          <a:lstStyle/>
          <a:p>
            <a:r>
              <a:rPr lang="en-GB" sz="3200" dirty="0"/>
              <a:t>Project Title – 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737309" cy="369332"/>
          </a:xfrm>
          <a:prstGeom prst="rect">
            <a:avLst/>
          </a:prstGeom>
          <a:noFill/>
        </p:spPr>
        <p:txBody>
          <a:bodyPr wrap="square" rtlCol="0">
            <a:spAutoFit/>
          </a:bodyPr>
          <a:lstStyle/>
          <a:p>
            <a:r>
              <a:rPr lang="en-US" b="1" dirty="0"/>
              <a:t>AICTE STU ID : </a:t>
            </a:r>
            <a:r>
              <a:rPr lang="en-IN" b="1" dirty="0"/>
              <a:t>STU6a6256fe207ab1784829694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61258" y="259079"/>
            <a:ext cx="9323614" cy="546136"/>
          </a:xfrm>
        </p:spPr>
        <p:txBody>
          <a:bodyPr>
            <a:noAutofit/>
          </a:bodyPr>
          <a:lstStyle/>
          <a:p>
            <a:r>
              <a:rPr lang="en-GB" sz="2800" dirty="0"/>
              <a:t>Project Description</a:t>
            </a:r>
            <a:br>
              <a:rPr lang="en-GB" sz="2800" dirty="0"/>
            </a:br>
            <a:br>
              <a:rPr lang="en-GB" sz="2000" dirty="0"/>
            </a:br>
            <a:r>
              <a:rPr lang="en-IN" sz="2200" b="0" dirty="0"/>
              <a:t>This project focuses on </a:t>
            </a:r>
            <a:r>
              <a:rPr lang="en-IN" sz="2200" b="0" dirty="0" err="1"/>
              <a:t>analyzing</a:t>
            </a:r>
            <a:r>
              <a:rPr lang="en-IN" sz="2200" b="0" dirty="0"/>
              <a:t> agricultural data collected across different seasons, geographical areas and farming conditions.</a:t>
            </a:r>
            <a:br>
              <a:rPr lang="en-IN" sz="2200" b="0" dirty="0"/>
            </a:br>
            <a:br>
              <a:rPr lang="en-IN" sz="2200" b="0" dirty="0"/>
            </a:br>
            <a:r>
              <a:rPr lang="en-IN" sz="2200" b="0" dirty="0"/>
              <a:t>The analysis examines agricultural practices, environmental conditions, crop production, resource usage and economic performance to understand how agricultural performance changes across Kharif, Rabi and Zaid seasons.</a:t>
            </a:r>
            <a:br>
              <a:rPr lang="en-IN" sz="2200" b="0" dirty="0"/>
            </a:br>
            <a:r>
              <a:rPr lang="en-IN" sz="2200" b="0" dirty="0"/>
              <a:t>The project involves:</a:t>
            </a:r>
            <a:br>
              <a:rPr lang="en-IN" sz="2200" b="0" dirty="0"/>
            </a:br>
            <a:r>
              <a:rPr lang="en-IN" sz="2200" b="0" dirty="0"/>
              <a:t>1.Exploring and understanding the dataset </a:t>
            </a:r>
            <a:br>
              <a:rPr lang="en-IN" sz="2200" b="0" dirty="0"/>
            </a:br>
            <a:r>
              <a:rPr lang="en-IN" sz="2200" b="0" dirty="0"/>
              <a:t>2.Cleaning and preparing the data </a:t>
            </a:r>
            <a:br>
              <a:rPr lang="en-IN" sz="2200" b="0" dirty="0"/>
            </a:br>
            <a:r>
              <a:rPr lang="en-IN" sz="2200" b="0" dirty="0"/>
              <a:t>3.Performing statistical analysis </a:t>
            </a:r>
            <a:br>
              <a:rPr lang="en-IN" sz="2200" b="0" dirty="0"/>
            </a:br>
            <a:r>
              <a:rPr lang="en-IN" sz="2200" b="0" dirty="0"/>
              <a:t>4.Comparing agricultural performance across seasons </a:t>
            </a:r>
            <a:br>
              <a:rPr lang="en-IN" sz="2200" b="0" dirty="0"/>
            </a:br>
            <a:r>
              <a:rPr lang="en-IN" sz="2200" b="0" dirty="0"/>
              <a:t>5.Analyzing relationships between important variables </a:t>
            </a:r>
            <a:br>
              <a:rPr lang="en-IN" sz="2200" b="0" dirty="0"/>
            </a:br>
            <a:r>
              <a:rPr lang="en-IN" sz="2200" b="0" dirty="0"/>
              <a:t>6.Visualizing seasonal patterns </a:t>
            </a:r>
            <a:br>
              <a:rPr lang="en-IN" sz="2200" b="0" dirty="0"/>
            </a:br>
            <a:r>
              <a:rPr lang="en-IN" sz="2200" b="0" dirty="0"/>
              <a:t>7.Identifying meaningful insights </a:t>
            </a:r>
            <a:br>
              <a:rPr lang="en-IN" sz="2200" b="0" dirty="0"/>
            </a:br>
            <a:r>
              <a:rPr lang="en-IN" sz="2200" b="0" dirty="0"/>
              <a:t>8.Providing evidence-based recommendations</a:t>
            </a:r>
            <a:br>
              <a:rPr lang="en-IN"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To understand seasonal agricultural performance and resource usage. </a:t>
            </a:r>
          </a:p>
          <a:p>
            <a:pPr lvl="0"/>
            <a:r>
              <a:rPr lang="en-IN" sz="3600" b="1" dirty="0"/>
              <a:t>Agricultural Planners</a:t>
            </a:r>
            <a:r>
              <a:rPr lang="en-IN" sz="3600" dirty="0"/>
              <a:t> – To support seasonal agricultural planning. </a:t>
            </a:r>
          </a:p>
          <a:p>
            <a:pPr lvl="0"/>
            <a:r>
              <a:rPr lang="en-IN" sz="3600" b="1" dirty="0"/>
              <a:t>Agricultural Researchers</a:t>
            </a:r>
            <a:r>
              <a:rPr lang="en-IN" sz="3600" dirty="0"/>
              <a:t> – To study seasonal patterns and relationships. </a:t>
            </a:r>
          </a:p>
          <a:p>
            <a:pPr lvl="0"/>
            <a:r>
              <a:rPr lang="en-IN" sz="3600" b="1" dirty="0"/>
              <a:t>Agricultural Organizations</a:t>
            </a:r>
            <a:r>
              <a:rPr lang="en-IN" sz="3600" dirty="0"/>
              <a:t> – To compare performance and identify areas requiring further investigation. </a:t>
            </a:r>
          </a:p>
          <a:p>
            <a:pPr lvl="0"/>
            <a:r>
              <a:rPr lang="en-IN" sz="3600" b="1" dirty="0"/>
              <a:t>Policy and Planning Stakeholders</a:t>
            </a:r>
            <a:r>
              <a:rPr lang="en-IN" sz="3600" dirty="0"/>
              <a:t> – To support evidence-based agricultural decision-making.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600200"/>
            <a:ext cx="7640320" cy="5075808"/>
          </a:xfrm>
        </p:spPr>
        <p:txBody>
          <a:bodyPr>
            <a:normAutofit fontScale="85000" lnSpcReduction="20000"/>
          </a:bodyPr>
          <a:lstStyle/>
          <a:p>
            <a:pPr marL="0" indent="0">
              <a:buNone/>
            </a:pPr>
            <a:r>
              <a:rPr lang="en-IN" sz="2800" b="1" dirty="0"/>
              <a:t>Programming Language</a:t>
            </a:r>
            <a:endParaRPr lang="en-IN" sz="2800" dirty="0"/>
          </a:p>
          <a:p>
            <a:pPr lvl="0"/>
            <a:r>
              <a:rPr lang="en-IN" sz="2800" dirty="0"/>
              <a:t>Python </a:t>
            </a:r>
          </a:p>
          <a:p>
            <a:pPr marL="0" indent="0">
              <a:buNone/>
            </a:pPr>
            <a:r>
              <a:rPr lang="en-IN" sz="2800" b="1" dirty="0"/>
              <a:t>Libraries</a:t>
            </a:r>
            <a:endParaRPr lang="en-IN" sz="2800" dirty="0"/>
          </a:p>
          <a:p>
            <a:pPr lvl="0"/>
            <a:r>
              <a:rPr lang="en-IN" sz="2800" dirty="0"/>
              <a:t>Pandas </a:t>
            </a:r>
          </a:p>
          <a:p>
            <a:pPr lvl="0"/>
            <a:r>
              <a:rPr lang="en-IN" sz="2800" dirty="0"/>
              <a:t>NumPy </a:t>
            </a:r>
          </a:p>
          <a:p>
            <a:pPr lvl="0"/>
            <a:r>
              <a:rPr lang="en-IN" sz="2800" dirty="0"/>
              <a:t>Matplotlib </a:t>
            </a:r>
          </a:p>
          <a:p>
            <a:pPr marL="0" indent="0">
              <a:buNone/>
            </a:pPr>
            <a:r>
              <a:rPr lang="en-IN" sz="2800" b="1" dirty="0"/>
              <a:t>Development Environment</a:t>
            </a:r>
            <a:endParaRPr lang="en-IN" sz="2800" dirty="0"/>
          </a:p>
          <a:p>
            <a:pPr lvl="0"/>
            <a:r>
              <a:rPr lang="en-IN" sz="2800" dirty="0"/>
              <a:t>Google </a:t>
            </a:r>
            <a:r>
              <a:rPr lang="en-IN" sz="2800" dirty="0" err="1"/>
              <a:t>Colab</a:t>
            </a:r>
            <a:endParaRPr lang="en-IN" sz="2800"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2">
            <a:extLst>
              <a:ext uri="{FF2B5EF4-FFF2-40B4-BE49-F238E27FC236}">
                <a16:creationId xmlns:a16="http://schemas.microsoft.com/office/drawing/2014/main" id="{7081A9C8-99C5-8B27-94A4-1580203DABF8}"/>
              </a:ext>
            </a:extLst>
          </p:cNvPr>
          <p:cNvSpPr>
            <a:spLocks noGrp="1"/>
          </p:cNvSpPr>
          <p:nvPr>
            <p:ph type="body" sz="quarter" idx="12"/>
          </p:nvPr>
        </p:nvSpPr>
        <p:spPr>
          <a:xfrm>
            <a:off x="807358" y="4206684"/>
            <a:ext cx="6881897" cy="2361755"/>
          </a:xfrm>
        </p:spPr>
        <p:txBody>
          <a:bodyPr/>
          <a:lstStyle/>
          <a:p>
            <a:pPr marL="0" indent="0">
              <a:buNone/>
            </a:pPr>
            <a:r>
              <a:rPr lang="en-IN" b="1" dirty="0"/>
              <a:t>Key Findings</a:t>
            </a:r>
          </a:p>
          <a:p>
            <a:pPr lvl="0"/>
            <a:r>
              <a:rPr lang="en-IN" dirty="0"/>
              <a:t>Dataset contains </a:t>
            </a:r>
            <a:r>
              <a:rPr lang="en-IN" b="1" dirty="0"/>
              <a:t>4000 records and 28 variables</a:t>
            </a:r>
            <a:r>
              <a:rPr lang="en-IN" dirty="0"/>
              <a:t>. </a:t>
            </a:r>
          </a:p>
          <a:p>
            <a:pPr lvl="0"/>
            <a:r>
              <a:rPr lang="en-IN" dirty="0"/>
              <a:t>Missing values were identified in rainfall, soil moisture and yield.</a:t>
            </a:r>
          </a:p>
          <a:p>
            <a:pPr marL="0" indent="0">
              <a:buNone/>
            </a:pPr>
            <a:endParaRPr lang="en-IN" dirty="0"/>
          </a:p>
        </p:txBody>
      </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44908" y="380609"/>
            <a:ext cx="11064705" cy="831850"/>
          </a:xfrm>
        </p:spPr>
        <p:txBody>
          <a:bodyPr>
            <a:normAutofit/>
          </a:bodyPr>
          <a:lstStyle/>
          <a:p>
            <a:r>
              <a:rPr lang="en-GB" sz="2800" dirty="0"/>
              <a:t>RESULTS-</a:t>
            </a:r>
            <a:r>
              <a:rPr lang="en-IN" sz="2800" dirty="0"/>
              <a:t>DATASET &amp; DATA PREPARATION</a:t>
            </a:r>
            <a:r>
              <a:rPr lang="en-GB" sz="2800" dirty="0"/>
              <a:t> </a:t>
            </a:r>
            <a:endParaRPr lang="en-IN" sz="28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EDF822A0-8E95-B90C-5187-A0D388E0444D}"/>
              </a:ext>
            </a:extLst>
          </p:cNvPr>
          <p:cNvPicPr>
            <a:picLocks noChangeAspect="1"/>
          </p:cNvPicPr>
          <p:nvPr/>
        </p:nvPicPr>
        <p:blipFill>
          <a:blip r:embed="rId3"/>
          <a:stretch>
            <a:fillRect/>
          </a:stretch>
        </p:blipFill>
        <p:spPr>
          <a:xfrm>
            <a:off x="544909" y="1212459"/>
            <a:ext cx="5472565" cy="2689489"/>
          </a:xfrm>
          <a:prstGeom prst="rect">
            <a:avLst/>
          </a:prstGeom>
        </p:spPr>
      </p:pic>
      <p:pic>
        <p:nvPicPr>
          <p:cNvPr id="16" name="Picture 15">
            <a:extLst>
              <a:ext uri="{FF2B5EF4-FFF2-40B4-BE49-F238E27FC236}">
                <a16:creationId xmlns:a16="http://schemas.microsoft.com/office/drawing/2014/main" id="{5087DD45-1A72-21C6-29D5-60B385CDFB6A}"/>
              </a:ext>
            </a:extLst>
          </p:cNvPr>
          <p:cNvPicPr>
            <a:picLocks noChangeAspect="1"/>
          </p:cNvPicPr>
          <p:nvPr/>
        </p:nvPicPr>
        <p:blipFill>
          <a:blip r:embed="rId4"/>
          <a:stretch>
            <a:fillRect/>
          </a:stretch>
        </p:blipFill>
        <p:spPr>
          <a:xfrm>
            <a:off x="6698625" y="1169283"/>
            <a:ext cx="4706257" cy="3080577"/>
          </a:xfrm>
          <a:prstGeom prst="rect">
            <a:avLst/>
          </a:prstGeom>
        </p:spPr>
      </p:pic>
      <p:sp>
        <p:nvSpPr>
          <p:cNvPr id="17" name="TextBox 16">
            <a:extLst>
              <a:ext uri="{FF2B5EF4-FFF2-40B4-BE49-F238E27FC236}">
                <a16:creationId xmlns:a16="http://schemas.microsoft.com/office/drawing/2014/main" id="{1033D08D-9D4E-E34A-EDB1-0F28A7691DEC}"/>
              </a:ext>
            </a:extLst>
          </p:cNvPr>
          <p:cNvSpPr txBox="1"/>
          <p:nvPr/>
        </p:nvSpPr>
        <p:spPr>
          <a:xfrm>
            <a:off x="6890657" y="195943"/>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10949986" cy="830997"/>
          </a:xfrm>
        </p:spPr>
        <p:txBody>
          <a:bodyPr>
            <a:normAutofit/>
          </a:bodyPr>
          <a:lstStyle/>
          <a:p>
            <a:r>
              <a:rPr lang="en-GB" sz="2800" dirty="0"/>
              <a:t>RESULT-</a:t>
            </a:r>
            <a:r>
              <a:rPr lang="en-IN" sz="2800" dirty="0"/>
              <a:t>SEASONAL YIELD PERFORMANCE</a:t>
            </a:r>
            <a:r>
              <a:rPr lang="en-GB" sz="2800" dirty="0"/>
              <a:t> </a:t>
            </a:r>
            <a:endParaRPr lang="en-IN" sz="28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0"/>
            <a:ext cx="3343561" cy="3476243"/>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Finding</a:t>
            </a:r>
          </a:p>
          <a:p>
            <a:pPr marL="342900" lvl="0" indent="-342900" algn="just">
              <a:buFont typeface="Wingdings" panose="05000000000000000000" pitchFamily="2" charset="2"/>
              <a:buChar char="§"/>
            </a:pPr>
            <a:r>
              <a:rPr lang="en-IN" sz="2000" dirty="0"/>
              <a:t>Kharif records the highest average yield. </a:t>
            </a:r>
          </a:p>
          <a:p>
            <a:pPr marL="342900" lvl="0" indent="-342900" algn="just">
              <a:buFont typeface="Wingdings" panose="05000000000000000000" pitchFamily="2" charset="2"/>
              <a:buChar char="§"/>
            </a:pPr>
            <a:r>
              <a:rPr lang="en-IN" sz="2000" dirty="0"/>
              <a:t>Rabi has intermediate average yield. </a:t>
            </a:r>
          </a:p>
          <a:p>
            <a:pPr marL="342900" lvl="0" indent="-342900" algn="just">
              <a:buFont typeface="Wingdings" panose="05000000000000000000" pitchFamily="2" charset="2"/>
              <a:buChar char="§"/>
            </a:pPr>
            <a:r>
              <a:rPr lang="en-IN" sz="2000" dirty="0"/>
              <a:t>Zaid records the lowest average yield. </a:t>
            </a:r>
          </a:p>
          <a:p>
            <a:pPr marL="342900" lvl="0" indent="-342900" algn="just">
              <a:buFont typeface="Wingdings" panose="05000000000000000000" pitchFamily="2" charset="2"/>
              <a:buChar char="§"/>
            </a:pPr>
            <a:r>
              <a:rPr lang="en-IN" sz="2000" dirty="0"/>
              <a:t>Therefore, agricultural yield varies across seasons.</a:t>
            </a:r>
          </a:p>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670BE08-A817-1F42-6E78-166198CB6664}"/>
              </a:ext>
            </a:extLst>
          </p:cNvPr>
          <p:cNvPicPr>
            <a:picLocks noChangeAspect="1"/>
          </p:cNvPicPr>
          <p:nvPr/>
        </p:nvPicPr>
        <p:blipFill>
          <a:blip r:embed="rId3"/>
          <a:stretch>
            <a:fillRect/>
          </a:stretch>
        </p:blipFill>
        <p:spPr>
          <a:xfrm>
            <a:off x="4163786" y="1063099"/>
            <a:ext cx="7651427" cy="560186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7929200" cy="830997"/>
          </a:xfrm>
        </p:spPr>
        <p:txBody>
          <a:bodyPr>
            <a:normAutofit/>
          </a:bodyPr>
          <a:lstStyle/>
          <a:p>
            <a:r>
              <a:rPr lang="en-GB" sz="2800" dirty="0"/>
              <a:t>RESULTS</a:t>
            </a:r>
            <a:r>
              <a:rPr lang="en-IN" sz="2800" dirty="0"/>
              <a:t>-SEASONAL ECONOMIC PERFORMANCE</a:t>
            </a:r>
            <a:r>
              <a:rPr lang="en-GB" sz="2800" dirty="0"/>
              <a:t> </a:t>
            </a:r>
            <a:endParaRPr lang="en-IN" sz="28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985422"/>
            <a:ext cx="4275138" cy="2600949"/>
          </a:xfrm>
        </p:spPr>
        <p:txBody>
          <a:bodyPr>
            <a:normAutofit fontScale="85000" lnSpcReduction="20000"/>
          </a:bodyPr>
          <a:lstStyle/>
          <a:p>
            <a:pPr marL="0" indent="0">
              <a:buNone/>
            </a:pPr>
            <a:r>
              <a:rPr lang="en-IN" b="1" dirty="0"/>
              <a:t>Finding</a:t>
            </a:r>
          </a:p>
          <a:p>
            <a:pPr lvl="0"/>
            <a:r>
              <a:rPr lang="en-IN" dirty="0"/>
              <a:t>Kharif records the highest average revenue. </a:t>
            </a:r>
          </a:p>
          <a:p>
            <a:pPr lvl="0"/>
            <a:r>
              <a:rPr lang="en-IN" dirty="0"/>
              <a:t>Kharif records the highest average profit. </a:t>
            </a:r>
          </a:p>
          <a:p>
            <a:pPr lvl="0"/>
            <a:r>
              <a:rPr lang="en-IN" dirty="0"/>
              <a:t>Zaid shows the weakest economic performance. </a:t>
            </a:r>
          </a:p>
          <a:p>
            <a:pPr lvl="0"/>
            <a:r>
              <a:rPr lang="en-IN" dirty="0"/>
              <a:t>Economic outcomes therefore differ across seasons.</a:t>
            </a:r>
          </a:p>
          <a:p>
            <a:pPr marL="0" indent="0">
              <a:buNone/>
            </a:pPr>
            <a:endParaRPr lang="en-IN" dirty="0"/>
          </a:p>
        </p:txBody>
      </p:sp>
      <p:pic>
        <p:nvPicPr>
          <p:cNvPr id="9" name="Picture 8">
            <a:extLst>
              <a:ext uri="{FF2B5EF4-FFF2-40B4-BE49-F238E27FC236}">
                <a16:creationId xmlns:a16="http://schemas.microsoft.com/office/drawing/2014/main" id="{45AE5505-33FB-4A72-7F8C-5094956A2DE6}"/>
              </a:ext>
            </a:extLst>
          </p:cNvPr>
          <p:cNvPicPr>
            <a:picLocks noChangeAspect="1"/>
          </p:cNvPicPr>
          <p:nvPr/>
        </p:nvPicPr>
        <p:blipFill>
          <a:blip r:embed="rId3"/>
          <a:stretch>
            <a:fillRect/>
          </a:stretch>
        </p:blipFill>
        <p:spPr>
          <a:xfrm>
            <a:off x="4847363" y="985422"/>
            <a:ext cx="7101548" cy="5679538"/>
          </a:xfrm>
          <a:prstGeom prst="rect">
            <a:avLst/>
          </a:prstGeom>
        </p:spPr>
      </p:pic>
      <p:pic>
        <p:nvPicPr>
          <p:cNvPr id="14" name="Picture 13">
            <a:extLst>
              <a:ext uri="{FF2B5EF4-FFF2-40B4-BE49-F238E27FC236}">
                <a16:creationId xmlns:a16="http://schemas.microsoft.com/office/drawing/2014/main" id="{5A805605-8A0D-C00F-4565-756B83182D3B}"/>
              </a:ext>
            </a:extLst>
          </p:cNvPr>
          <p:cNvPicPr>
            <a:picLocks noChangeAspect="1"/>
          </p:cNvPicPr>
          <p:nvPr/>
        </p:nvPicPr>
        <p:blipFill>
          <a:blip r:embed="rId4"/>
          <a:stretch>
            <a:fillRect/>
          </a:stretch>
        </p:blipFill>
        <p:spPr>
          <a:xfrm>
            <a:off x="1164820" y="3793531"/>
            <a:ext cx="3682543" cy="215468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82900" y="253299"/>
            <a:ext cx="7013298" cy="830997"/>
          </a:xfrm>
        </p:spPr>
        <p:txBody>
          <a:bodyPr>
            <a:normAutofit/>
          </a:bodyPr>
          <a:lstStyle/>
          <a:p>
            <a:r>
              <a:rPr lang="en-GB" sz="2800" dirty="0"/>
              <a:t>RESULTS-</a:t>
            </a:r>
            <a:r>
              <a:rPr lang="en-IN" sz="2800" dirty="0"/>
              <a:t>WATER USAGE &amp; EFFICIENCY</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084296"/>
            <a:ext cx="4275138" cy="2769247"/>
          </a:xfrm>
        </p:spPr>
        <p:txBody>
          <a:bodyPr>
            <a:normAutofit fontScale="70000" lnSpcReduction="20000"/>
          </a:bodyPr>
          <a:lstStyle/>
          <a:p>
            <a:pPr marL="0" indent="0">
              <a:buNone/>
            </a:pPr>
            <a:r>
              <a:rPr lang="en-IN" b="1" dirty="0"/>
              <a:t>Finding</a:t>
            </a:r>
          </a:p>
          <a:p>
            <a:pPr lvl="0"/>
            <a:r>
              <a:rPr lang="en-IN" sz="2300" dirty="0"/>
              <a:t>Zaid records the highest average water usage. </a:t>
            </a:r>
          </a:p>
          <a:p>
            <a:pPr lvl="0"/>
            <a:r>
              <a:rPr lang="en-IN" sz="2300" dirty="0"/>
              <a:t>Zaid records the lowest average water-use efficiency. </a:t>
            </a:r>
          </a:p>
          <a:p>
            <a:pPr lvl="0"/>
            <a:r>
              <a:rPr lang="en-IN" sz="2300" dirty="0"/>
              <a:t>Water-resource utilization varies across seasons. </a:t>
            </a:r>
          </a:p>
          <a:p>
            <a:pPr lvl="0"/>
            <a:r>
              <a:rPr lang="en-IN" sz="2300" dirty="0"/>
              <a:t>This represents an important seasonal difference in resource usage.</a:t>
            </a:r>
          </a:p>
          <a:p>
            <a:pPr marL="0" indent="0">
              <a:buNone/>
            </a:pPr>
            <a:endParaRPr lang="en-IN" dirty="0"/>
          </a:p>
        </p:txBody>
      </p:sp>
      <p:pic>
        <p:nvPicPr>
          <p:cNvPr id="6" name="Picture 5">
            <a:extLst>
              <a:ext uri="{FF2B5EF4-FFF2-40B4-BE49-F238E27FC236}">
                <a16:creationId xmlns:a16="http://schemas.microsoft.com/office/drawing/2014/main" id="{44FA4AD9-66D4-AF44-F587-11D575E48051}"/>
              </a:ext>
            </a:extLst>
          </p:cNvPr>
          <p:cNvPicPr>
            <a:picLocks noChangeAspect="1"/>
          </p:cNvPicPr>
          <p:nvPr/>
        </p:nvPicPr>
        <p:blipFill>
          <a:blip r:embed="rId3"/>
          <a:stretch>
            <a:fillRect/>
          </a:stretch>
        </p:blipFill>
        <p:spPr>
          <a:xfrm>
            <a:off x="5415589" y="734786"/>
            <a:ext cx="6548473" cy="6019017"/>
          </a:xfrm>
          <a:prstGeom prst="rect">
            <a:avLst/>
          </a:prstGeom>
        </p:spPr>
      </p:pic>
      <p:pic>
        <p:nvPicPr>
          <p:cNvPr id="12" name="Picture 11">
            <a:extLst>
              <a:ext uri="{FF2B5EF4-FFF2-40B4-BE49-F238E27FC236}">
                <a16:creationId xmlns:a16="http://schemas.microsoft.com/office/drawing/2014/main" id="{8010BEE8-8BAB-A69B-FC4D-C197CA822D80}"/>
              </a:ext>
            </a:extLst>
          </p:cNvPr>
          <p:cNvPicPr>
            <a:picLocks noChangeAspect="1"/>
          </p:cNvPicPr>
          <p:nvPr/>
        </p:nvPicPr>
        <p:blipFill>
          <a:blip r:embed="rId4"/>
          <a:stretch>
            <a:fillRect/>
          </a:stretch>
        </p:blipFill>
        <p:spPr>
          <a:xfrm>
            <a:off x="1140451" y="4044618"/>
            <a:ext cx="4275138" cy="214458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111764"/>
            <a:ext cx="11309214" cy="830997"/>
          </a:xfrm>
        </p:spPr>
        <p:txBody>
          <a:bodyPr>
            <a:normAutofit/>
          </a:bodyPr>
          <a:lstStyle/>
          <a:p>
            <a:r>
              <a:rPr lang="en-GB" sz="3100" dirty="0"/>
              <a:t>RESULTS-</a:t>
            </a:r>
            <a:r>
              <a:rPr lang="en-IN" sz="3100" dirty="0"/>
              <a:t>CORRELATION MATRIX</a:t>
            </a:r>
            <a:endParaRPr lang="en-IN" sz="28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0AA55AE-CF52-EFBB-98EE-5C1A923AFAF4}"/>
              </a:ext>
            </a:extLst>
          </p:cNvPr>
          <p:cNvPicPr>
            <a:picLocks noChangeAspect="1"/>
          </p:cNvPicPr>
          <p:nvPr/>
        </p:nvPicPr>
        <p:blipFill>
          <a:blip r:embed="rId3"/>
          <a:stretch>
            <a:fillRect/>
          </a:stretch>
        </p:blipFill>
        <p:spPr>
          <a:xfrm>
            <a:off x="929402" y="764965"/>
            <a:ext cx="8136899" cy="580347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248C-79F8-1EE5-7109-8F5E7F674C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3211CA-64BC-DE14-2B44-BAAF61BF1E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1DD2EC5-DEB3-5BC3-9EAC-D8A200DADA65}"/>
              </a:ext>
            </a:extLst>
          </p:cNvPr>
          <p:cNvSpPr>
            <a:spLocks noGrp="1"/>
          </p:cNvSpPr>
          <p:nvPr>
            <p:ph type="title"/>
          </p:nvPr>
        </p:nvSpPr>
        <p:spPr>
          <a:xfrm>
            <a:off x="675957" y="111764"/>
            <a:ext cx="11309214" cy="830997"/>
          </a:xfrm>
        </p:spPr>
        <p:txBody>
          <a:bodyPr>
            <a:normAutofit/>
          </a:bodyPr>
          <a:lstStyle/>
          <a:p>
            <a:r>
              <a:rPr lang="en-GB" sz="2800" dirty="0"/>
              <a:t>RESULTS</a:t>
            </a:r>
            <a:r>
              <a:rPr lang="en-GB" sz="3100" dirty="0"/>
              <a:t>-</a:t>
            </a:r>
            <a:r>
              <a:rPr lang="en-IN" sz="2800" dirty="0"/>
              <a:t>WATER EFFICIENCY V/S YIELD SCATTER PLOT</a:t>
            </a:r>
          </a:p>
        </p:txBody>
      </p:sp>
      <p:sp>
        <p:nvSpPr>
          <p:cNvPr id="7" name="Text Placeholder 30">
            <a:extLst>
              <a:ext uri="{FF2B5EF4-FFF2-40B4-BE49-F238E27FC236}">
                <a16:creationId xmlns:a16="http://schemas.microsoft.com/office/drawing/2014/main" id="{1ADE1460-B739-2585-E93E-55600647A5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 name="Picture 7">
            <a:extLst>
              <a:ext uri="{FF2B5EF4-FFF2-40B4-BE49-F238E27FC236}">
                <a16:creationId xmlns:a16="http://schemas.microsoft.com/office/drawing/2014/main" id="{A0286274-259F-2256-F03E-EDA073D43197}"/>
              </a:ext>
            </a:extLst>
          </p:cNvPr>
          <p:cNvPicPr>
            <a:picLocks noChangeAspect="1"/>
          </p:cNvPicPr>
          <p:nvPr/>
        </p:nvPicPr>
        <p:blipFill>
          <a:blip r:embed="rId3"/>
          <a:stretch>
            <a:fillRect/>
          </a:stretch>
        </p:blipFill>
        <p:spPr>
          <a:xfrm>
            <a:off x="996043" y="942761"/>
            <a:ext cx="6662057" cy="5464013"/>
          </a:xfrm>
          <a:prstGeom prst="rect">
            <a:avLst/>
          </a:prstGeom>
        </p:spPr>
      </p:pic>
    </p:spTree>
    <p:extLst>
      <p:ext uri="{BB962C8B-B14F-4D97-AF65-F5344CB8AC3E}">
        <p14:creationId xmlns:p14="http://schemas.microsoft.com/office/powerpoint/2010/main" val="381963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9296547" cy="4766200"/>
          </a:xfrm>
          <a:prstGeom prst="rect">
            <a:avLst/>
          </a:prstGeom>
        </p:spPr>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buFont typeface="Wingdings" panose="05000000000000000000" pitchFamily="2" charset="2"/>
              <a:buChar char="§"/>
            </a:pPr>
            <a:r>
              <a:rPr lang="en-IN" sz="2800" dirty="0"/>
              <a:t>Extend the analysis using data from more years and geographical regions. </a:t>
            </a:r>
          </a:p>
          <a:p>
            <a:pPr marL="342900" lvl="0" indent="-342900" algn="just">
              <a:buFont typeface="Wingdings" panose="05000000000000000000" pitchFamily="2" charset="2"/>
              <a:buChar char="§"/>
            </a:pPr>
            <a:r>
              <a:rPr lang="en-IN" sz="2800" dirty="0" err="1"/>
              <a:t>Analyze</a:t>
            </a:r>
            <a:r>
              <a:rPr lang="en-IN" sz="2800" dirty="0"/>
              <a:t> seasonal patterns at state, district and crop levels. </a:t>
            </a:r>
          </a:p>
          <a:p>
            <a:pPr marL="342900" lvl="0" indent="-342900" algn="just">
              <a:buFont typeface="Wingdings" panose="05000000000000000000" pitchFamily="2" charset="2"/>
              <a:buChar char="§"/>
            </a:pPr>
            <a:r>
              <a:rPr lang="en-IN" sz="2800" dirty="0"/>
              <a:t>Include additional environmental and soil-related variables. </a:t>
            </a:r>
          </a:p>
          <a:p>
            <a:pPr marL="342900" lvl="0" indent="-342900" algn="just">
              <a:buFont typeface="Wingdings" panose="05000000000000000000" pitchFamily="2" charset="2"/>
              <a:buChar char="§"/>
            </a:pPr>
            <a:r>
              <a:rPr lang="en-IN" sz="2800" dirty="0"/>
              <a:t>Study seasonal trends over longer periods. </a:t>
            </a:r>
          </a:p>
          <a:p>
            <a:pPr marL="342900" lvl="0" indent="-342900" algn="just">
              <a:buFont typeface="Wingdings" panose="05000000000000000000" pitchFamily="2" charset="2"/>
              <a:buChar char="§"/>
            </a:pPr>
            <a:r>
              <a:rPr lang="en-IN" sz="2800" dirty="0"/>
              <a:t>Integrate more detailed market and weather information. </a:t>
            </a:r>
          </a:p>
          <a:p>
            <a:pPr marL="342900" lvl="0" indent="-342900" algn="just">
              <a:buFont typeface="Wingdings" panose="05000000000000000000" pitchFamily="2" charset="2"/>
              <a:buChar char="§"/>
            </a:pPr>
            <a:r>
              <a:rPr lang="en-IN" sz="2800" dirty="0"/>
              <a:t>Develop interactive visualizations for easier exploration of agricultural data. </a:t>
            </a:r>
          </a:p>
          <a:p>
            <a:pPr marL="342900" lvl="0" indent="-342900" algn="just">
              <a:buFont typeface="Wingdings" panose="05000000000000000000" pitchFamily="2" charset="2"/>
              <a:buChar char="§"/>
            </a:pPr>
            <a:r>
              <a:rPr lang="en-IN" sz="2800" dirty="0"/>
              <a:t>Future studies may use predictive techniques after sufficient historical data is available.</a:t>
            </a:r>
          </a:p>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920C62A-34A3-FB56-D749-056385BA0AB9}"/>
              </a:ext>
            </a:extLst>
          </p:cNvPr>
          <p:cNvPicPr>
            <a:picLocks noChangeAspect="1"/>
          </p:cNvPicPr>
          <p:nvPr/>
        </p:nvPicPr>
        <p:blipFill>
          <a:blip r:embed="rId3"/>
          <a:stretch>
            <a:fillRect/>
          </a:stretch>
        </p:blipFill>
        <p:spPr>
          <a:xfrm>
            <a:off x="1612129" y="1415370"/>
            <a:ext cx="7139986" cy="500461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37316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1438</TotalTime>
  <Words>536</Words>
  <Application>Microsoft Office PowerPoint</Application>
  <PresentationFormat>Widescreen</PresentationFormat>
  <Paragraphs>60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This project focuses on analyzing agricultural data collected across different seasons, geographical areas and farming conditions.  The analysis examines agricultural practices, environmental conditions, crop production, resource usage and economic performance to understand how agricultural performance changes across Kharif, Rabi and Zaid seasons. The project involves: 1.Exploring and understanding the dataset  2.Cleaning and preparing the data  3.Performing statistical analysis  4.Comparing agricultural performance across seasons  5.Analyzing relationships between important variables  6.Visualizing seasonal patterns  7.Identifying meaningful insights  8.Providing evidence-based recommendations </vt:lpstr>
      <vt:lpstr>WHO ARE THE END USERS?</vt:lpstr>
      <vt:lpstr>Technology Used</vt:lpstr>
      <vt:lpstr>RESULTS-DATASET &amp; DATA PREPARATION </vt:lpstr>
      <vt:lpstr>RESULT-SEASONAL YIELD PERFORMANCE </vt:lpstr>
      <vt:lpstr>RESULTS-SEASONAL ECONOMIC PERFORMANCE </vt:lpstr>
      <vt:lpstr>RESULTS-WATER USAGE &amp; EFFICIENCY</vt:lpstr>
      <vt:lpstr>RESULTS-CORRELATION MATRIX</vt:lpstr>
      <vt:lpstr>RESULTS-WATER EFFICIENCY V/S YIELD SCATTER PLOT</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Astha Anand</cp:lastModifiedBy>
  <cp:revision>99</cp:revision>
  <dcterms:created xsi:type="dcterms:W3CDTF">2021-07-11T13:13:15Z</dcterms:created>
  <dcterms:modified xsi:type="dcterms:W3CDTF">2026-09-14T19:30:36Z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